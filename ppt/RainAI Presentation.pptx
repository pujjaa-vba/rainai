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2"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AA14D8-4931-484A-BC3E-29B5214AA098}">
          <p14:sldIdLst>
            <p14:sldId id="256"/>
            <p14:sldId id="257"/>
            <p14:sldId id="258"/>
            <p14:sldId id="259"/>
            <p14:sldId id="262"/>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958" autoAdjust="0"/>
    <p:restoredTop sz="94660"/>
  </p:normalViewPr>
  <p:slideViewPr>
    <p:cSldViewPr snapToGrid="0">
      <p:cViewPr>
        <p:scale>
          <a:sx n="72" d="100"/>
          <a:sy n="72" d="100"/>
        </p:scale>
        <p:origin x="6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15FF1B-E92E-4DE3-8D5C-A2E24FD9D1B0}" type="datetimeFigureOut">
              <a:rPr lang="en-IN" smtClean="0"/>
              <a:t>10-02-2026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87DB4A-2FC1-48F9-81EA-BC1CC99E066F}" type="slidenum">
              <a:rPr lang="en-IN" smtClean="0"/>
              <a:t>‹#›</a:t>
            </a:fld>
            <a:endParaRPr lang="en-IN"/>
          </a:p>
        </p:txBody>
      </p:sp>
    </p:spTree>
    <p:extLst>
      <p:ext uri="{BB962C8B-B14F-4D97-AF65-F5344CB8AC3E}">
        <p14:creationId xmlns:p14="http://schemas.microsoft.com/office/powerpoint/2010/main" val="1110084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87DB4A-2FC1-48F9-81EA-BC1CC99E066F}" type="slidenum">
              <a:rPr lang="en-IN" smtClean="0"/>
              <a:t>1</a:t>
            </a:fld>
            <a:endParaRPr lang="en-IN"/>
          </a:p>
        </p:txBody>
      </p:sp>
    </p:spTree>
    <p:extLst>
      <p:ext uri="{BB962C8B-B14F-4D97-AF65-F5344CB8AC3E}">
        <p14:creationId xmlns:p14="http://schemas.microsoft.com/office/powerpoint/2010/main" val="3932997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7ED6F-95A4-93F1-E055-CD2632D008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42217B-8F81-5DFD-22D0-17E5FD03C7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AA17CC-4CEA-BA51-EEAC-18C14F3E4EEB}"/>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5" name="Footer Placeholder 4">
            <a:extLst>
              <a:ext uri="{FF2B5EF4-FFF2-40B4-BE49-F238E27FC236}">
                <a16:creationId xmlns:a16="http://schemas.microsoft.com/office/drawing/2014/main" id="{125FE834-690D-ABEB-2B90-D27D111261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0D692E-F02D-22C5-8D88-B979D3B04F23}"/>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3350676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6A5BE-9B5C-B1BF-ED7E-235E0E92E5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A3E7F7-EB35-BF3D-3800-8480056EB1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032E71-03F9-1A52-9D13-92C5DCFC6427}"/>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5" name="Footer Placeholder 4">
            <a:extLst>
              <a:ext uri="{FF2B5EF4-FFF2-40B4-BE49-F238E27FC236}">
                <a16:creationId xmlns:a16="http://schemas.microsoft.com/office/drawing/2014/main" id="{5EFF8EE1-1F22-CECB-0F98-5D5F3880EC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FDE56B-1D18-EC2A-C763-AF8529156C4F}"/>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2077432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31E9-1DF3-191B-D605-5AF5129DE6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FBA740-5B42-D86D-506E-1093F9735E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6632A6-EA6F-7BBC-DEE4-2F1053A4E372}"/>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5" name="Footer Placeholder 4">
            <a:extLst>
              <a:ext uri="{FF2B5EF4-FFF2-40B4-BE49-F238E27FC236}">
                <a16:creationId xmlns:a16="http://schemas.microsoft.com/office/drawing/2014/main" id="{6E2B7E0B-42D7-93CE-EE6D-6FC8445C54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2F50B1-4D39-6500-E920-2FAFDF064314}"/>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2780312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5613-5C58-7539-53D5-EFC5A365CC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0C2951-F7AB-EA8F-7DDA-C2CC63F609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C82EE7-F2DF-8A42-3E91-F3D5CB8840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046D17D-3666-5D4B-498A-2E522F24470C}"/>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6" name="Footer Placeholder 5">
            <a:extLst>
              <a:ext uri="{FF2B5EF4-FFF2-40B4-BE49-F238E27FC236}">
                <a16:creationId xmlns:a16="http://schemas.microsoft.com/office/drawing/2014/main" id="{2DCDF4D1-F776-46D1-2620-CFD5C650B2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D19E17-CC16-5157-AC91-1A60592ABFFA}"/>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3916039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E4FF5-D037-0B4C-111D-85292DD604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0E72BB-06F5-3B6A-48AA-5E73FA6B62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CA5D12-6F5F-69CA-DE51-FC71E0C4FC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C87E9B2-9843-21AE-7F4C-1C81670FB7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E3EBC2-857C-A3F2-9A1F-C8738FE59A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05B13B-250A-8DF3-BDD3-4778CCF25210}"/>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8" name="Footer Placeholder 7">
            <a:extLst>
              <a:ext uri="{FF2B5EF4-FFF2-40B4-BE49-F238E27FC236}">
                <a16:creationId xmlns:a16="http://schemas.microsoft.com/office/drawing/2014/main" id="{14DDD196-5BD1-FB60-CDFF-27033742412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E7097D-9C86-2D41-F781-99746A5531C4}"/>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2982492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5EAA2-D937-5519-F1A7-154FDFD582E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7781B6-F493-A65C-7B56-01E8E73954AD}"/>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4" name="Footer Placeholder 3">
            <a:extLst>
              <a:ext uri="{FF2B5EF4-FFF2-40B4-BE49-F238E27FC236}">
                <a16:creationId xmlns:a16="http://schemas.microsoft.com/office/drawing/2014/main" id="{853B0A9F-1D03-F60C-DCEE-009124C452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F311075-1560-9DF1-2FAA-2577C82A0038}"/>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4224228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DFC4B4-25D2-11B0-AE9A-471786FC5754}"/>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3" name="Footer Placeholder 2">
            <a:extLst>
              <a:ext uri="{FF2B5EF4-FFF2-40B4-BE49-F238E27FC236}">
                <a16:creationId xmlns:a16="http://schemas.microsoft.com/office/drawing/2014/main" id="{6B79E876-0EF8-6D53-62AA-A1454811C2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D50665-3BFA-6B52-AB51-AC5C6C328E05}"/>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2748868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6BB8F-536B-A3E9-5780-BE7D451A64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50D7430-0EC6-DB1F-E942-1547911B3F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F882181-4338-241B-CFD0-86F295097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A94C3A-F70F-6575-2ACB-68493484B317}"/>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6" name="Footer Placeholder 5">
            <a:extLst>
              <a:ext uri="{FF2B5EF4-FFF2-40B4-BE49-F238E27FC236}">
                <a16:creationId xmlns:a16="http://schemas.microsoft.com/office/drawing/2014/main" id="{E6124FA6-86AC-E06E-B55E-61B887897E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8BC8D3-3A0B-B097-EB88-D47641015DF9}"/>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2431271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24405-2652-F5D2-2CF7-4DE14A6B16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D78DDA-8F72-37F6-B85D-7C8F4268FE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025DBDD-EF10-1B9D-53A8-7D13DC152A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1A526-A701-0744-589F-92ECC67669B9}"/>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6" name="Footer Placeholder 5">
            <a:extLst>
              <a:ext uri="{FF2B5EF4-FFF2-40B4-BE49-F238E27FC236}">
                <a16:creationId xmlns:a16="http://schemas.microsoft.com/office/drawing/2014/main" id="{1A5FCA51-13A7-940F-D162-C055D7310C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E1BFEA-6E93-0EEF-78F9-7DFBF86856ED}"/>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200129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DE18E-3142-E74A-6246-1A2405233E3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D2EDED-09ED-DFC6-722E-53FDD22175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8CE5ED-C5B4-6E12-8D71-56D5C6417630}"/>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5" name="Footer Placeholder 4">
            <a:extLst>
              <a:ext uri="{FF2B5EF4-FFF2-40B4-BE49-F238E27FC236}">
                <a16:creationId xmlns:a16="http://schemas.microsoft.com/office/drawing/2014/main" id="{9651B532-ADE9-CF2E-9E66-4B83A6B2AD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D0BD45-22D7-46C7-0788-6FFC58F903D7}"/>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2315407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0D0EB2-DBF7-8DC6-8399-09B6570DDB4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C600A7-13F9-6E17-D457-74E6B2671A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5C1B5B-277F-4415-3210-7236D298959C}"/>
              </a:ext>
            </a:extLst>
          </p:cNvPr>
          <p:cNvSpPr>
            <a:spLocks noGrp="1"/>
          </p:cNvSpPr>
          <p:nvPr>
            <p:ph type="dt" sz="half" idx="10"/>
          </p:nvPr>
        </p:nvSpPr>
        <p:spPr/>
        <p:txBody>
          <a:bodyPr/>
          <a:lstStyle/>
          <a:p>
            <a:fld id="{329EC1BB-5CEC-4B5B-A437-7DDEBA9453DE}" type="datetimeFigureOut">
              <a:rPr lang="en-IN" smtClean="0"/>
              <a:t>10-02-2026</a:t>
            </a:fld>
            <a:endParaRPr lang="en-IN"/>
          </a:p>
        </p:txBody>
      </p:sp>
      <p:sp>
        <p:nvSpPr>
          <p:cNvPr id="5" name="Footer Placeholder 4">
            <a:extLst>
              <a:ext uri="{FF2B5EF4-FFF2-40B4-BE49-F238E27FC236}">
                <a16:creationId xmlns:a16="http://schemas.microsoft.com/office/drawing/2014/main" id="{6526CA85-F697-6F87-AF78-6B867121DA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04530F-E855-2AAF-87ED-77E998E66668}"/>
              </a:ext>
            </a:extLst>
          </p:cNvPr>
          <p:cNvSpPr>
            <a:spLocks noGrp="1"/>
          </p:cNvSpPr>
          <p:nvPr>
            <p:ph type="sldNum" sz="quarter" idx="12"/>
          </p:nvPr>
        </p:nvSpPr>
        <p:spPr/>
        <p:txBody>
          <a:bodyPr/>
          <a:lstStyle/>
          <a:p>
            <a:fld id="{C8328955-6094-4B48-BC08-98F19EE65FDC}" type="slidenum">
              <a:rPr lang="en-IN" smtClean="0"/>
              <a:t>‹#›</a:t>
            </a:fld>
            <a:endParaRPr lang="en-IN"/>
          </a:p>
        </p:txBody>
      </p:sp>
    </p:spTree>
    <p:extLst>
      <p:ext uri="{BB962C8B-B14F-4D97-AF65-F5344CB8AC3E}">
        <p14:creationId xmlns:p14="http://schemas.microsoft.com/office/powerpoint/2010/main" val="1359546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88BC2D-35AD-9E9E-C566-3358E2801A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80CDAA-2019-D80B-6BFA-54B61CA4A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64CE23-6736-8E0E-9D3D-C53E293DBA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9EC1BB-5CEC-4B5B-A437-7DDEBA9453DE}" type="datetimeFigureOut">
              <a:rPr lang="en-IN" smtClean="0"/>
              <a:t>10-02-2026</a:t>
            </a:fld>
            <a:endParaRPr lang="en-IN"/>
          </a:p>
        </p:txBody>
      </p:sp>
      <p:sp>
        <p:nvSpPr>
          <p:cNvPr id="5" name="Footer Placeholder 4">
            <a:extLst>
              <a:ext uri="{FF2B5EF4-FFF2-40B4-BE49-F238E27FC236}">
                <a16:creationId xmlns:a16="http://schemas.microsoft.com/office/drawing/2014/main" id="{CCA9F513-439D-80CA-6A06-E65F1CAD84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9B86FE2-4C9C-B338-7149-012EE29F7A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328955-6094-4B48-BC08-98F19EE65FDC}" type="slidenum">
              <a:rPr lang="en-IN" smtClean="0"/>
              <a:t>‹#›</a:t>
            </a:fld>
            <a:endParaRPr lang="en-IN"/>
          </a:p>
        </p:txBody>
      </p:sp>
    </p:spTree>
    <p:extLst>
      <p:ext uri="{BB962C8B-B14F-4D97-AF65-F5344CB8AC3E}">
        <p14:creationId xmlns:p14="http://schemas.microsoft.com/office/powerpoint/2010/main" val="1596337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A2E90-3AA4-6C84-EF42-A1A28CE28727}"/>
              </a:ext>
            </a:extLst>
          </p:cNvPr>
          <p:cNvSpPr>
            <a:spLocks noGrp="1"/>
          </p:cNvSpPr>
          <p:nvPr>
            <p:ph type="ctrTitle"/>
          </p:nvPr>
        </p:nvSpPr>
        <p:spPr>
          <a:xfrm>
            <a:off x="1524000" y="985193"/>
            <a:ext cx="9144000" cy="1598572"/>
          </a:xfrm>
        </p:spPr>
        <p:txBody>
          <a:bodyPr>
            <a:normAutofit/>
          </a:bodyPr>
          <a:lstStyle/>
          <a:p>
            <a:r>
              <a:rPr lang="en-IN" sz="4800" b="1" dirty="0" err="1">
                <a:latin typeface="Aptos Narrow" panose="020B0004020202020204" pitchFamily="34" charset="0"/>
              </a:rPr>
              <a:t>RainAI</a:t>
            </a:r>
            <a:r>
              <a:rPr lang="en-IN" sz="4800" b="1" dirty="0">
                <a:latin typeface="Aptos Narrow" panose="020B0004020202020204" pitchFamily="34" charset="0"/>
              </a:rPr>
              <a:t>: AI-Driven Weather Prediction System with </a:t>
            </a:r>
            <a:r>
              <a:rPr lang="en-IN" sz="4800" b="1" dirty="0" err="1">
                <a:latin typeface="Aptos Narrow" panose="020B0004020202020204" pitchFamily="34" charset="0"/>
              </a:rPr>
              <a:t>XGBoost</a:t>
            </a:r>
            <a:endParaRPr lang="en-IN" sz="4800" b="1" dirty="0">
              <a:latin typeface="Aptos Narrow" panose="020B0004020202020204" pitchFamily="34" charset="0"/>
            </a:endParaRPr>
          </a:p>
        </p:txBody>
      </p:sp>
      <p:sp>
        <p:nvSpPr>
          <p:cNvPr id="3" name="Subtitle 2">
            <a:extLst>
              <a:ext uri="{FF2B5EF4-FFF2-40B4-BE49-F238E27FC236}">
                <a16:creationId xmlns:a16="http://schemas.microsoft.com/office/drawing/2014/main" id="{A57C8559-0C71-773D-F7B4-3051016CB7F6}"/>
              </a:ext>
            </a:extLst>
          </p:cNvPr>
          <p:cNvSpPr>
            <a:spLocks noGrp="1"/>
          </p:cNvSpPr>
          <p:nvPr>
            <p:ph type="subTitle" idx="1"/>
          </p:nvPr>
        </p:nvSpPr>
        <p:spPr>
          <a:xfrm>
            <a:off x="1524000" y="2787927"/>
            <a:ext cx="9144000" cy="2745668"/>
          </a:xfrm>
        </p:spPr>
        <p:txBody>
          <a:bodyPr>
            <a:normAutofit/>
          </a:bodyPr>
          <a:lstStyle/>
          <a:p>
            <a:r>
              <a:rPr lang="en-IN" b="1" dirty="0"/>
              <a:t>PRESENTED BY:</a:t>
            </a:r>
          </a:p>
          <a:p>
            <a:r>
              <a:rPr lang="en-IN" dirty="0"/>
              <a:t>PUJJAA VBA</a:t>
            </a:r>
          </a:p>
          <a:p>
            <a:r>
              <a:rPr lang="en-IN" dirty="0"/>
              <a:t>N SREE NANDHINE</a:t>
            </a:r>
          </a:p>
          <a:p>
            <a:r>
              <a:rPr lang="en-IN" dirty="0"/>
              <a:t>YUVARANI S</a:t>
            </a:r>
          </a:p>
          <a:p>
            <a:r>
              <a:rPr lang="en-IN" b="1" dirty="0"/>
              <a:t>GUIDED BY:</a:t>
            </a:r>
          </a:p>
          <a:p>
            <a:r>
              <a:rPr lang="en-IN" dirty="0"/>
              <a:t>MRS. U. LEELAVATHI</a:t>
            </a:r>
          </a:p>
        </p:txBody>
      </p:sp>
    </p:spTree>
    <p:extLst>
      <p:ext uri="{BB962C8B-B14F-4D97-AF65-F5344CB8AC3E}">
        <p14:creationId xmlns:p14="http://schemas.microsoft.com/office/powerpoint/2010/main" val="3592545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7F09-ACD6-CE17-060C-87A594CFAC30}"/>
              </a:ext>
            </a:extLst>
          </p:cNvPr>
          <p:cNvSpPr>
            <a:spLocks noGrp="1"/>
          </p:cNvSpPr>
          <p:nvPr>
            <p:ph type="title"/>
          </p:nvPr>
        </p:nvSpPr>
        <p:spPr>
          <a:xfrm>
            <a:off x="838200" y="660093"/>
            <a:ext cx="3438832" cy="808847"/>
          </a:xfrm>
        </p:spPr>
        <p:txBody>
          <a:bodyPr>
            <a:normAutofit fontScale="90000"/>
          </a:bodyPr>
          <a:lstStyle/>
          <a:p>
            <a:r>
              <a:rPr lang="en-IN" sz="2800" b="1" dirty="0">
                <a:latin typeface="Aptos Narrow" panose="020B0004020202020204" pitchFamily="34" charset="0"/>
              </a:rPr>
              <a:t>PROBLEM STATEMENT:</a:t>
            </a:r>
          </a:p>
        </p:txBody>
      </p:sp>
      <p:sp>
        <p:nvSpPr>
          <p:cNvPr id="3" name="Content Placeholder 2">
            <a:extLst>
              <a:ext uri="{FF2B5EF4-FFF2-40B4-BE49-F238E27FC236}">
                <a16:creationId xmlns:a16="http://schemas.microsoft.com/office/drawing/2014/main" id="{B1EC5EEF-48A3-8FE0-3EAF-1AA2B5FF5928}"/>
              </a:ext>
            </a:extLst>
          </p:cNvPr>
          <p:cNvSpPr>
            <a:spLocks noGrp="1"/>
          </p:cNvSpPr>
          <p:nvPr>
            <p:ph idx="1"/>
          </p:nvPr>
        </p:nvSpPr>
        <p:spPr>
          <a:xfrm>
            <a:off x="838200" y="1227266"/>
            <a:ext cx="9821934" cy="2473700"/>
          </a:xfrm>
        </p:spPr>
        <p:txBody>
          <a:bodyPr>
            <a:noAutofit/>
          </a:bodyPr>
          <a:lstStyle/>
          <a:p>
            <a:pPr marL="0" indent="0">
              <a:lnSpc>
                <a:spcPct val="120000"/>
              </a:lnSpc>
              <a:buNone/>
            </a:pPr>
            <a:r>
              <a:rPr lang="en-US" sz="1800" dirty="0"/>
              <a:t>	Traditional weather prediction systems often fail to provide accurate and localized rainfall forecasts, especially for rural and agricultural regions. Existing methods rely on generalized meteorological models that do not consider region-specific historical data patterns, leading to inaccurate predictions. Farmers depend heavily on rainfall forecasts for crop planning, irrigation scheduling, and risk management, but unreliable predictions can result in crop loss and financial instability. The absence of AI-driven, data-centric forecasting systems limits the ability to deliver timely and precise rainfall predictions.</a:t>
            </a:r>
            <a:endParaRPr lang="en-IN" sz="1800" dirty="0"/>
          </a:p>
        </p:txBody>
      </p:sp>
      <p:sp>
        <p:nvSpPr>
          <p:cNvPr id="4" name="TextBox 3">
            <a:extLst>
              <a:ext uri="{FF2B5EF4-FFF2-40B4-BE49-F238E27FC236}">
                <a16:creationId xmlns:a16="http://schemas.microsoft.com/office/drawing/2014/main" id="{1DD71EB4-AE19-097A-6B25-819FACE320CE}"/>
              </a:ext>
            </a:extLst>
          </p:cNvPr>
          <p:cNvSpPr txBox="1"/>
          <p:nvPr/>
        </p:nvSpPr>
        <p:spPr>
          <a:xfrm>
            <a:off x="838200" y="3746025"/>
            <a:ext cx="1701620" cy="477054"/>
          </a:xfrm>
          <a:prstGeom prst="rect">
            <a:avLst/>
          </a:prstGeom>
          <a:noFill/>
        </p:spPr>
        <p:txBody>
          <a:bodyPr wrap="none" rtlCol="0">
            <a:spAutoFit/>
          </a:bodyPr>
          <a:lstStyle/>
          <a:p>
            <a:r>
              <a:rPr lang="en-IN" sz="2500" b="1" dirty="0">
                <a:latin typeface="Aptos Narrow" panose="020B0004020202020204" pitchFamily="34" charset="0"/>
              </a:rPr>
              <a:t>OBJECTIVE:</a:t>
            </a:r>
            <a:endParaRPr lang="en-IN" sz="2500" dirty="0"/>
          </a:p>
        </p:txBody>
      </p:sp>
      <p:sp>
        <p:nvSpPr>
          <p:cNvPr id="5" name="TextBox 4">
            <a:extLst>
              <a:ext uri="{FF2B5EF4-FFF2-40B4-BE49-F238E27FC236}">
                <a16:creationId xmlns:a16="http://schemas.microsoft.com/office/drawing/2014/main" id="{FFA63474-6F1C-20EC-790A-DDBA0C2846C8}"/>
              </a:ext>
            </a:extLst>
          </p:cNvPr>
          <p:cNvSpPr txBox="1"/>
          <p:nvPr/>
        </p:nvSpPr>
        <p:spPr>
          <a:xfrm>
            <a:off x="838200" y="4212088"/>
            <a:ext cx="4665898" cy="1477328"/>
          </a:xfrm>
          <a:prstGeom prst="rect">
            <a:avLst/>
          </a:prstGeom>
          <a:noFill/>
        </p:spPr>
        <p:txBody>
          <a:bodyPr wrap="square" rtlCol="0">
            <a:spAutoFit/>
          </a:bodyPr>
          <a:lstStyle/>
          <a:p>
            <a:pPr marL="342900" indent="-342900">
              <a:buFont typeface="+mj-lt"/>
              <a:buAutoNum type="arabicPeriod"/>
            </a:pPr>
            <a:r>
              <a:rPr lang="en-US" dirty="0"/>
              <a:t>Develop AI-based rainfall prediction system </a:t>
            </a:r>
          </a:p>
          <a:p>
            <a:pPr marL="342900" indent="-342900">
              <a:buFont typeface="+mj-lt"/>
              <a:buAutoNum type="arabicPeriod"/>
            </a:pPr>
            <a:r>
              <a:rPr lang="en-US" dirty="0"/>
              <a:t>Use </a:t>
            </a:r>
            <a:r>
              <a:rPr lang="en-US" dirty="0" err="1"/>
              <a:t>XGBoost</a:t>
            </a:r>
            <a:r>
              <a:rPr lang="en-US" dirty="0"/>
              <a:t> for high accuracy </a:t>
            </a:r>
          </a:p>
          <a:p>
            <a:pPr marL="342900" indent="-342900">
              <a:buFont typeface="+mj-lt"/>
              <a:buAutoNum type="arabicPeriod"/>
            </a:pPr>
            <a:r>
              <a:rPr lang="en-US" dirty="0"/>
              <a:t>Provide localized rainfall forecasts </a:t>
            </a:r>
          </a:p>
          <a:p>
            <a:pPr marL="342900" indent="-342900">
              <a:buFont typeface="+mj-lt"/>
              <a:buAutoNum type="arabicPeriod"/>
            </a:pPr>
            <a:r>
              <a:rPr lang="en-US" dirty="0"/>
              <a:t>Support agricultural decision-making</a:t>
            </a:r>
          </a:p>
          <a:p>
            <a:pPr marL="342900" indent="-342900">
              <a:buFont typeface="+mj-lt"/>
              <a:buAutoNum type="arabicPeriod"/>
            </a:pPr>
            <a:r>
              <a:rPr lang="en-US" dirty="0"/>
              <a:t>Reduce weather-related risks</a:t>
            </a:r>
            <a:endParaRPr lang="en-IN" dirty="0"/>
          </a:p>
        </p:txBody>
      </p:sp>
    </p:spTree>
    <p:extLst>
      <p:ext uri="{BB962C8B-B14F-4D97-AF65-F5344CB8AC3E}">
        <p14:creationId xmlns:p14="http://schemas.microsoft.com/office/powerpoint/2010/main" val="2258423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28416-872C-D5B8-174A-76A6513DF983}"/>
              </a:ext>
            </a:extLst>
          </p:cNvPr>
          <p:cNvSpPr>
            <a:spLocks noGrp="1"/>
          </p:cNvSpPr>
          <p:nvPr>
            <p:ph type="title"/>
          </p:nvPr>
        </p:nvSpPr>
        <p:spPr>
          <a:xfrm>
            <a:off x="838200" y="1162471"/>
            <a:ext cx="2949186" cy="572872"/>
          </a:xfrm>
        </p:spPr>
        <p:txBody>
          <a:bodyPr>
            <a:normAutofit/>
          </a:bodyPr>
          <a:lstStyle/>
          <a:p>
            <a:r>
              <a:rPr lang="en-IN" sz="2500" b="1" dirty="0">
                <a:latin typeface="Aptos Narrow" panose="020B0004020202020204" pitchFamily="34" charset="0"/>
              </a:rPr>
              <a:t>LITERATURE SURVEY:</a:t>
            </a:r>
            <a:endParaRPr lang="en-IN" sz="2500" dirty="0"/>
          </a:p>
        </p:txBody>
      </p:sp>
      <p:sp>
        <p:nvSpPr>
          <p:cNvPr id="3" name="Content Placeholder 2">
            <a:extLst>
              <a:ext uri="{FF2B5EF4-FFF2-40B4-BE49-F238E27FC236}">
                <a16:creationId xmlns:a16="http://schemas.microsoft.com/office/drawing/2014/main" id="{D7125979-18F9-D405-D151-563A7E70CE6D}"/>
              </a:ext>
            </a:extLst>
          </p:cNvPr>
          <p:cNvSpPr>
            <a:spLocks noGrp="1"/>
          </p:cNvSpPr>
          <p:nvPr>
            <p:ph idx="1"/>
          </p:nvPr>
        </p:nvSpPr>
        <p:spPr>
          <a:xfrm>
            <a:off x="838200" y="1735343"/>
            <a:ext cx="4459421" cy="1524692"/>
          </a:xfrm>
        </p:spPr>
        <p:txBody>
          <a:bodyPr>
            <a:normAutofit/>
          </a:bodyPr>
          <a:lstStyle/>
          <a:p>
            <a:pPr marL="0" indent="0">
              <a:buNone/>
            </a:pPr>
            <a:r>
              <a:rPr lang="en-US" sz="1800" dirty="0"/>
              <a:t>Existing systems rely on: </a:t>
            </a:r>
          </a:p>
          <a:p>
            <a:pPr marL="342900" indent="-342900">
              <a:buFont typeface="+mj-lt"/>
              <a:buAutoNum type="arabicPeriod"/>
            </a:pPr>
            <a:r>
              <a:rPr lang="en-US" sz="1800" dirty="0"/>
              <a:t>Traditional statistical models</a:t>
            </a:r>
          </a:p>
          <a:p>
            <a:pPr marL="342900" indent="-342900">
              <a:buFont typeface="+mj-lt"/>
              <a:buAutoNum type="arabicPeriod"/>
            </a:pPr>
            <a:r>
              <a:rPr lang="en-US" sz="1800" dirty="0"/>
              <a:t>Satellite-based predictions</a:t>
            </a:r>
          </a:p>
          <a:p>
            <a:pPr marL="342900" indent="-342900">
              <a:buFont typeface="+mj-lt"/>
              <a:buAutoNum type="arabicPeriod"/>
            </a:pPr>
            <a:r>
              <a:rPr lang="en-US" sz="1800" dirty="0"/>
              <a:t>Public weather reports</a:t>
            </a:r>
          </a:p>
        </p:txBody>
      </p:sp>
      <p:sp>
        <p:nvSpPr>
          <p:cNvPr id="5" name="Title 1">
            <a:extLst>
              <a:ext uri="{FF2B5EF4-FFF2-40B4-BE49-F238E27FC236}">
                <a16:creationId xmlns:a16="http://schemas.microsoft.com/office/drawing/2014/main" id="{6C0B948A-15BA-226E-3787-7B45C3696A76}"/>
              </a:ext>
            </a:extLst>
          </p:cNvPr>
          <p:cNvSpPr txBox="1">
            <a:spLocks/>
          </p:cNvSpPr>
          <p:nvPr/>
        </p:nvSpPr>
        <p:spPr>
          <a:xfrm>
            <a:off x="838200" y="3429000"/>
            <a:ext cx="2949186" cy="5728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500" b="1" dirty="0">
                <a:latin typeface="Aptos Narrow" panose="020B0004020202020204" pitchFamily="34" charset="0"/>
              </a:rPr>
              <a:t>LIMITATIONS:</a:t>
            </a:r>
            <a:endParaRPr lang="en-IN" sz="2500" dirty="0"/>
          </a:p>
        </p:txBody>
      </p:sp>
      <p:sp>
        <p:nvSpPr>
          <p:cNvPr id="7" name="Content Placeholder 2">
            <a:extLst>
              <a:ext uri="{FF2B5EF4-FFF2-40B4-BE49-F238E27FC236}">
                <a16:creationId xmlns:a16="http://schemas.microsoft.com/office/drawing/2014/main" id="{1542C190-D760-1D41-F126-415449D89761}"/>
              </a:ext>
            </a:extLst>
          </p:cNvPr>
          <p:cNvSpPr txBox="1">
            <a:spLocks/>
          </p:cNvSpPr>
          <p:nvPr/>
        </p:nvSpPr>
        <p:spPr>
          <a:xfrm>
            <a:off x="838200" y="4001872"/>
            <a:ext cx="4459421" cy="18523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800" dirty="0"/>
              <a:t>Low local accuracy </a:t>
            </a:r>
          </a:p>
          <a:p>
            <a:pPr marL="342900" indent="-342900">
              <a:buFont typeface="+mj-lt"/>
              <a:buAutoNum type="arabicPeriod"/>
            </a:pPr>
            <a:r>
              <a:rPr lang="en-US" sz="1800" dirty="0"/>
              <a:t>Limited ML usage</a:t>
            </a:r>
          </a:p>
          <a:p>
            <a:pPr marL="342900" indent="-342900">
              <a:buFont typeface="+mj-lt"/>
              <a:buAutoNum type="arabicPeriod"/>
            </a:pPr>
            <a:r>
              <a:rPr lang="en-US" sz="1800" dirty="0"/>
              <a:t>Resource Intensive</a:t>
            </a:r>
          </a:p>
          <a:p>
            <a:pPr marL="342900" indent="-342900">
              <a:buFont typeface="+mj-lt"/>
              <a:buAutoNum type="arabicPeriod"/>
            </a:pPr>
            <a:r>
              <a:rPr lang="en-US" sz="1800" dirty="0"/>
              <a:t>High Computational Requirement</a:t>
            </a:r>
          </a:p>
          <a:p>
            <a:pPr marL="342900" indent="-342900">
              <a:buFont typeface="+mj-lt"/>
              <a:buAutoNum type="arabicPeriod"/>
            </a:pPr>
            <a:r>
              <a:rPr lang="en-US" sz="1800" dirty="0"/>
              <a:t>Slow </a:t>
            </a:r>
            <a:r>
              <a:rPr lang="en-US" sz="1800" dirty="0" err="1"/>
              <a:t>Prediciton</a:t>
            </a:r>
            <a:endParaRPr lang="en-IN" sz="1800" dirty="0"/>
          </a:p>
        </p:txBody>
      </p:sp>
    </p:spTree>
    <p:extLst>
      <p:ext uri="{BB962C8B-B14F-4D97-AF65-F5344CB8AC3E}">
        <p14:creationId xmlns:p14="http://schemas.microsoft.com/office/powerpoint/2010/main" val="3259854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FB586C3-D867-0A63-BECB-9FA11B31CB09}"/>
              </a:ext>
            </a:extLst>
          </p:cNvPr>
          <p:cNvSpPr>
            <a:spLocks noGrp="1"/>
          </p:cNvSpPr>
          <p:nvPr>
            <p:ph type="title"/>
          </p:nvPr>
        </p:nvSpPr>
        <p:spPr>
          <a:xfrm>
            <a:off x="838200" y="794370"/>
            <a:ext cx="2943286" cy="549275"/>
          </a:xfrm>
        </p:spPr>
        <p:txBody>
          <a:bodyPr>
            <a:normAutofit/>
          </a:bodyPr>
          <a:lstStyle/>
          <a:p>
            <a:r>
              <a:rPr lang="en-IN" sz="2500" b="1" dirty="0">
                <a:latin typeface="Aptos Narrow" panose="020B0004020202020204" pitchFamily="34" charset="0"/>
              </a:rPr>
              <a:t>PROPOSED SYSTEM:</a:t>
            </a:r>
            <a:endParaRPr lang="en-IN" sz="2500" dirty="0"/>
          </a:p>
        </p:txBody>
      </p:sp>
      <p:sp>
        <p:nvSpPr>
          <p:cNvPr id="5" name="Content Placeholder 2">
            <a:extLst>
              <a:ext uri="{FF2B5EF4-FFF2-40B4-BE49-F238E27FC236}">
                <a16:creationId xmlns:a16="http://schemas.microsoft.com/office/drawing/2014/main" id="{91B21A5B-E424-D01B-DBDB-269093CABA83}"/>
              </a:ext>
            </a:extLst>
          </p:cNvPr>
          <p:cNvSpPr>
            <a:spLocks noGrp="1"/>
          </p:cNvSpPr>
          <p:nvPr>
            <p:ph idx="1"/>
          </p:nvPr>
        </p:nvSpPr>
        <p:spPr>
          <a:xfrm>
            <a:off x="838200" y="1264132"/>
            <a:ext cx="10515600" cy="1603375"/>
          </a:xfrm>
        </p:spPr>
        <p:txBody>
          <a:bodyPr>
            <a:noAutofit/>
          </a:bodyPr>
          <a:lstStyle/>
          <a:p>
            <a:pPr marL="342900" indent="-342900">
              <a:lnSpc>
                <a:spcPct val="100000"/>
              </a:lnSpc>
              <a:buFont typeface="+mj-lt"/>
              <a:buAutoNum type="arabicPeriod"/>
            </a:pPr>
            <a:r>
              <a:rPr lang="en-US" sz="1800" dirty="0" err="1"/>
              <a:t>RainAI</a:t>
            </a:r>
            <a:r>
              <a:rPr lang="en-US" sz="1800" dirty="0"/>
              <a:t> uses </a:t>
            </a:r>
            <a:r>
              <a:rPr lang="en-US" sz="1800" dirty="0" err="1"/>
              <a:t>XGBoost</a:t>
            </a:r>
            <a:r>
              <a:rPr lang="en-US" sz="1800" dirty="0"/>
              <a:t> algorithm. </a:t>
            </a:r>
          </a:p>
          <a:p>
            <a:pPr marL="342900" indent="-342900">
              <a:lnSpc>
                <a:spcPct val="100000"/>
              </a:lnSpc>
              <a:buFont typeface="+mj-lt"/>
              <a:buAutoNum type="arabicPeriod"/>
            </a:pPr>
            <a:r>
              <a:rPr lang="en-US" sz="1800" dirty="0"/>
              <a:t>Analyzes historical weather data. </a:t>
            </a:r>
          </a:p>
          <a:p>
            <a:pPr marL="342900" indent="-342900">
              <a:lnSpc>
                <a:spcPct val="100000"/>
              </a:lnSpc>
              <a:buFont typeface="+mj-lt"/>
              <a:buAutoNum type="arabicPeriod"/>
            </a:pPr>
            <a:r>
              <a:rPr lang="en-US" sz="1800" dirty="0"/>
              <a:t>Identifies hidden patterns for rainfall prediction. </a:t>
            </a:r>
          </a:p>
          <a:p>
            <a:pPr marL="342900" indent="-342900">
              <a:lnSpc>
                <a:spcPct val="100000"/>
              </a:lnSpc>
              <a:buFont typeface="+mj-lt"/>
              <a:buAutoNum type="arabicPeriod"/>
            </a:pPr>
            <a:r>
              <a:rPr lang="en-US" sz="1800" dirty="0"/>
              <a:t>Provides accurate and localized forecasts.</a:t>
            </a:r>
            <a:endParaRPr lang="en-IN" sz="1800" dirty="0"/>
          </a:p>
        </p:txBody>
      </p:sp>
      <p:sp>
        <p:nvSpPr>
          <p:cNvPr id="6" name="Title 1">
            <a:extLst>
              <a:ext uri="{FF2B5EF4-FFF2-40B4-BE49-F238E27FC236}">
                <a16:creationId xmlns:a16="http://schemas.microsoft.com/office/drawing/2014/main" id="{C9B260E6-DC32-EC25-D738-5F24D8ED6B9A}"/>
              </a:ext>
            </a:extLst>
          </p:cNvPr>
          <p:cNvSpPr txBox="1">
            <a:spLocks/>
          </p:cNvSpPr>
          <p:nvPr/>
        </p:nvSpPr>
        <p:spPr>
          <a:xfrm>
            <a:off x="838201" y="3095208"/>
            <a:ext cx="10515599" cy="549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500" b="1" dirty="0">
                <a:latin typeface="Aptos Narrow" panose="020B0004020202020204" pitchFamily="34" charset="0"/>
              </a:rPr>
              <a:t>METHODOLOGY / SYSTEM ARCHITECTURE:</a:t>
            </a:r>
            <a:endParaRPr lang="en-IN" sz="2500" dirty="0"/>
          </a:p>
        </p:txBody>
      </p:sp>
      <p:sp>
        <p:nvSpPr>
          <p:cNvPr id="9" name="Content Placeholder 2">
            <a:extLst>
              <a:ext uri="{FF2B5EF4-FFF2-40B4-BE49-F238E27FC236}">
                <a16:creationId xmlns:a16="http://schemas.microsoft.com/office/drawing/2014/main" id="{30E7B176-776C-19C6-1CD9-4F02CEB38749}"/>
              </a:ext>
            </a:extLst>
          </p:cNvPr>
          <p:cNvSpPr txBox="1">
            <a:spLocks/>
          </p:cNvSpPr>
          <p:nvPr/>
        </p:nvSpPr>
        <p:spPr>
          <a:xfrm>
            <a:off x="838200" y="3558344"/>
            <a:ext cx="4783885" cy="24407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Font typeface="+mj-lt"/>
              <a:buAutoNum type="arabicPeriod"/>
            </a:pPr>
            <a:r>
              <a:rPr lang="en-US" sz="1800" dirty="0"/>
              <a:t>Data collection </a:t>
            </a:r>
          </a:p>
          <a:p>
            <a:pPr marL="342900" indent="-342900">
              <a:lnSpc>
                <a:spcPct val="100000"/>
              </a:lnSpc>
              <a:buFont typeface="+mj-lt"/>
              <a:buAutoNum type="arabicPeriod"/>
            </a:pPr>
            <a:r>
              <a:rPr lang="en-US" sz="1800" dirty="0"/>
              <a:t>Data preprocessing </a:t>
            </a:r>
          </a:p>
          <a:p>
            <a:pPr marL="342900" indent="-342900">
              <a:lnSpc>
                <a:spcPct val="100000"/>
              </a:lnSpc>
              <a:buFont typeface="+mj-lt"/>
              <a:buAutoNum type="arabicPeriod"/>
            </a:pPr>
            <a:r>
              <a:rPr lang="en-US" sz="1800" dirty="0"/>
              <a:t>Feature selection</a:t>
            </a:r>
          </a:p>
          <a:p>
            <a:pPr marL="342900" indent="-342900">
              <a:lnSpc>
                <a:spcPct val="100000"/>
              </a:lnSpc>
              <a:buFont typeface="+mj-lt"/>
              <a:buAutoNum type="arabicPeriod"/>
            </a:pPr>
            <a:r>
              <a:rPr lang="en-US" sz="1800" dirty="0"/>
              <a:t>Model training (</a:t>
            </a:r>
            <a:r>
              <a:rPr lang="en-US" sz="1800" dirty="0" err="1"/>
              <a:t>XGBoost</a:t>
            </a:r>
            <a:r>
              <a:rPr lang="en-US" sz="1800" dirty="0"/>
              <a:t>) </a:t>
            </a:r>
          </a:p>
          <a:p>
            <a:pPr marL="342900" indent="-342900">
              <a:lnSpc>
                <a:spcPct val="100000"/>
              </a:lnSpc>
              <a:buFont typeface="+mj-lt"/>
              <a:buAutoNum type="arabicPeriod"/>
            </a:pPr>
            <a:r>
              <a:rPr lang="en-US" sz="1800" dirty="0"/>
              <a:t>Prediction generation </a:t>
            </a:r>
          </a:p>
          <a:p>
            <a:pPr marL="342900" indent="-342900">
              <a:lnSpc>
                <a:spcPct val="100000"/>
              </a:lnSpc>
              <a:buFont typeface="+mj-lt"/>
              <a:buAutoNum type="arabicPeriod"/>
            </a:pPr>
            <a:r>
              <a:rPr lang="en-US" sz="1800" dirty="0"/>
              <a:t>Result visualization</a:t>
            </a:r>
            <a:endParaRPr lang="en-IN" sz="1800" dirty="0"/>
          </a:p>
        </p:txBody>
      </p:sp>
    </p:spTree>
    <p:extLst>
      <p:ext uri="{BB962C8B-B14F-4D97-AF65-F5344CB8AC3E}">
        <p14:creationId xmlns:p14="http://schemas.microsoft.com/office/powerpoint/2010/main" val="494658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7E97C-E973-BC0D-F9EF-9DADAE5F872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60C70F0-60DB-BB5C-2031-21893E928CA6}"/>
              </a:ext>
            </a:extLst>
          </p:cNvPr>
          <p:cNvSpPr>
            <a:spLocks noGrp="1"/>
          </p:cNvSpPr>
          <p:nvPr>
            <p:ph type="title"/>
          </p:nvPr>
        </p:nvSpPr>
        <p:spPr>
          <a:xfrm>
            <a:off x="838200" y="747071"/>
            <a:ext cx="2943286" cy="549275"/>
          </a:xfrm>
        </p:spPr>
        <p:txBody>
          <a:bodyPr>
            <a:normAutofit/>
          </a:bodyPr>
          <a:lstStyle/>
          <a:p>
            <a:r>
              <a:rPr lang="en-IN" sz="2500" b="1" dirty="0">
                <a:latin typeface="Aptos Narrow" panose="020B0004020202020204" pitchFamily="34" charset="0"/>
              </a:rPr>
              <a:t>MODULES:</a:t>
            </a:r>
            <a:endParaRPr lang="en-IN" sz="2500" dirty="0"/>
          </a:p>
        </p:txBody>
      </p:sp>
      <p:sp>
        <p:nvSpPr>
          <p:cNvPr id="5" name="Content Placeholder 2">
            <a:extLst>
              <a:ext uri="{FF2B5EF4-FFF2-40B4-BE49-F238E27FC236}">
                <a16:creationId xmlns:a16="http://schemas.microsoft.com/office/drawing/2014/main" id="{19AD0ADC-51D3-1671-77E2-6EE929FB8F39}"/>
              </a:ext>
            </a:extLst>
          </p:cNvPr>
          <p:cNvSpPr>
            <a:spLocks noGrp="1"/>
          </p:cNvSpPr>
          <p:nvPr>
            <p:ph idx="1"/>
          </p:nvPr>
        </p:nvSpPr>
        <p:spPr>
          <a:xfrm>
            <a:off x="838200" y="1249151"/>
            <a:ext cx="10515600" cy="1634845"/>
          </a:xfrm>
        </p:spPr>
        <p:txBody>
          <a:bodyPr>
            <a:noAutofit/>
          </a:bodyPr>
          <a:lstStyle/>
          <a:p>
            <a:pPr marL="342900" indent="-342900">
              <a:lnSpc>
                <a:spcPct val="100000"/>
              </a:lnSpc>
              <a:buFont typeface="+mj-lt"/>
              <a:buAutoNum type="arabicPeriod"/>
            </a:pPr>
            <a:r>
              <a:rPr lang="en-US" sz="1800" dirty="0"/>
              <a:t>Data Collection Module </a:t>
            </a:r>
          </a:p>
          <a:p>
            <a:pPr marL="342900" indent="-342900">
              <a:lnSpc>
                <a:spcPct val="100000"/>
              </a:lnSpc>
              <a:buFont typeface="+mj-lt"/>
              <a:buAutoNum type="arabicPeriod"/>
            </a:pPr>
            <a:r>
              <a:rPr lang="en-US" sz="1800" dirty="0"/>
              <a:t>Data Preprocessing Module </a:t>
            </a:r>
          </a:p>
          <a:p>
            <a:pPr marL="342900" indent="-342900">
              <a:lnSpc>
                <a:spcPct val="100000"/>
              </a:lnSpc>
              <a:buFont typeface="+mj-lt"/>
              <a:buAutoNum type="arabicPeriod"/>
            </a:pPr>
            <a:r>
              <a:rPr lang="en-US" sz="1800" dirty="0"/>
              <a:t>Rainfall Prediction Module </a:t>
            </a:r>
          </a:p>
          <a:p>
            <a:pPr marL="342900" indent="-342900">
              <a:lnSpc>
                <a:spcPct val="100000"/>
              </a:lnSpc>
              <a:buFont typeface="+mj-lt"/>
              <a:buAutoNum type="arabicPeriod"/>
            </a:pPr>
            <a:r>
              <a:rPr lang="en-US" sz="1800" dirty="0"/>
              <a:t>Dashboard Module</a:t>
            </a:r>
            <a:endParaRPr lang="en-IN" sz="1800" dirty="0"/>
          </a:p>
        </p:txBody>
      </p:sp>
      <p:sp>
        <p:nvSpPr>
          <p:cNvPr id="6" name="Title 1">
            <a:extLst>
              <a:ext uri="{FF2B5EF4-FFF2-40B4-BE49-F238E27FC236}">
                <a16:creationId xmlns:a16="http://schemas.microsoft.com/office/drawing/2014/main" id="{5974FBBE-FC7C-BFC9-FE5D-D93279653C4D}"/>
              </a:ext>
            </a:extLst>
          </p:cNvPr>
          <p:cNvSpPr txBox="1">
            <a:spLocks/>
          </p:cNvSpPr>
          <p:nvPr/>
        </p:nvSpPr>
        <p:spPr>
          <a:xfrm>
            <a:off x="838200" y="2931191"/>
            <a:ext cx="4264742" cy="549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500" b="1" dirty="0">
                <a:latin typeface="Aptos Narrow" panose="020B0004020202020204" pitchFamily="34" charset="0"/>
              </a:rPr>
              <a:t>SOFTWARE REQUIREMENTS:</a:t>
            </a:r>
            <a:endParaRPr lang="en-IN" sz="2500" dirty="0"/>
          </a:p>
        </p:txBody>
      </p:sp>
      <p:sp>
        <p:nvSpPr>
          <p:cNvPr id="9" name="Content Placeholder 2">
            <a:extLst>
              <a:ext uri="{FF2B5EF4-FFF2-40B4-BE49-F238E27FC236}">
                <a16:creationId xmlns:a16="http://schemas.microsoft.com/office/drawing/2014/main" id="{F58FC7EE-3F9F-F5DE-FDB3-F86FC95D1964}"/>
              </a:ext>
            </a:extLst>
          </p:cNvPr>
          <p:cNvSpPr txBox="1">
            <a:spLocks/>
          </p:cNvSpPr>
          <p:nvPr/>
        </p:nvSpPr>
        <p:spPr>
          <a:xfrm>
            <a:off x="838200" y="3429000"/>
            <a:ext cx="8140618" cy="28652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IN" sz="1800" b="1" dirty="0"/>
              <a:t>1. Frontend:</a:t>
            </a:r>
            <a:r>
              <a:rPr lang="en-IN" sz="1800" dirty="0"/>
              <a:t> </a:t>
            </a:r>
          </a:p>
          <a:p>
            <a:pPr marL="0" indent="0">
              <a:lnSpc>
                <a:spcPct val="100000"/>
              </a:lnSpc>
              <a:spcBef>
                <a:spcPts val="0"/>
              </a:spcBef>
              <a:buNone/>
            </a:pPr>
            <a:r>
              <a:rPr lang="en-IN" sz="1800" dirty="0"/>
              <a:t>	HTML, CSS, </a:t>
            </a:r>
            <a:r>
              <a:rPr lang="en-IN" sz="1800" dirty="0" err="1"/>
              <a:t>Streamlit</a:t>
            </a:r>
            <a:endParaRPr lang="en-IN" sz="1800" dirty="0"/>
          </a:p>
          <a:p>
            <a:pPr marL="0" indent="0">
              <a:lnSpc>
                <a:spcPct val="100000"/>
              </a:lnSpc>
              <a:spcBef>
                <a:spcPts val="0"/>
              </a:spcBef>
              <a:buNone/>
            </a:pPr>
            <a:r>
              <a:rPr lang="en-IN" sz="1800" b="1" dirty="0"/>
              <a:t>2. Backend: </a:t>
            </a:r>
          </a:p>
          <a:p>
            <a:pPr marL="0" indent="0">
              <a:lnSpc>
                <a:spcPct val="100000"/>
              </a:lnSpc>
              <a:spcBef>
                <a:spcPts val="0"/>
              </a:spcBef>
              <a:buNone/>
            </a:pPr>
            <a:r>
              <a:rPr lang="en-IN" sz="1800" dirty="0"/>
              <a:t>	Python</a:t>
            </a:r>
          </a:p>
          <a:p>
            <a:pPr marL="0" indent="0">
              <a:lnSpc>
                <a:spcPct val="100000"/>
              </a:lnSpc>
              <a:spcBef>
                <a:spcPts val="0"/>
              </a:spcBef>
              <a:buNone/>
            </a:pPr>
            <a:r>
              <a:rPr lang="en-IN" sz="1800" b="1" dirty="0"/>
              <a:t>3. Machine Learning Libraries:</a:t>
            </a:r>
          </a:p>
          <a:p>
            <a:pPr marL="0" indent="0">
              <a:lnSpc>
                <a:spcPct val="100000"/>
              </a:lnSpc>
              <a:spcBef>
                <a:spcPts val="0"/>
              </a:spcBef>
              <a:buNone/>
            </a:pPr>
            <a:r>
              <a:rPr lang="en-IN" sz="1800" dirty="0"/>
              <a:t>	</a:t>
            </a:r>
            <a:r>
              <a:rPr lang="en-IN" sz="1800" dirty="0" err="1"/>
              <a:t>XGBoost</a:t>
            </a:r>
            <a:r>
              <a:rPr lang="en-IN" sz="1800" dirty="0"/>
              <a:t>, </a:t>
            </a:r>
            <a:r>
              <a:rPr lang="en-IN" sz="1800" dirty="0" err="1"/>
              <a:t>Numpy</a:t>
            </a:r>
            <a:r>
              <a:rPr lang="en-IN" sz="1800" dirty="0"/>
              <a:t>, Pandas, Matplotlib, Scikit-Learn</a:t>
            </a:r>
          </a:p>
          <a:p>
            <a:pPr marL="0" indent="0">
              <a:lnSpc>
                <a:spcPct val="100000"/>
              </a:lnSpc>
              <a:spcBef>
                <a:spcPts val="0"/>
              </a:spcBef>
              <a:buNone/>
            </a:pPr>
            <a:r>
              <a:rPr lang="en-IN" sz="1800" b="1" dirty="0"/>
              <a:t>4. Database: </a:t>
            </a:r>
          </a:p>
          <a:p>
            <a:pPr marL="0" indent="0">
              <a:lnSpc>
                <a:spcPct val="100000"/>
              </a:lnSpc>
              <a:spcBef>
                <a:spcPts val="0"/>
              </a:spcBef>
              <a:buNone/>
            </a:pPr>
            <a:r>
              <a:rPr lang="en-IN" sz="1800" dirty="0"/>
              <a:t>	SQL </a:t>
            </a:r>
          </a:p>
          <a:p>
            <a:pPr marL="0" indent="0">
              <a:lnSpc>
                <a:spcPct val="100000"/>
              </a:lnSpc>
              <a:spcBef>
                <a:spcPts val="0"/>
              </a:spcBef>
              <a:buNone/>
            </a:pPr>
            <a:r>
              <a:rPr lang="en-IN" sz="1800" b="1" dirty="0"/>
              <a:t>5. Tools: </a:t>
            </a:r>
          </a:p>
          <a:p>
            <a:pPr marL="0" indent="0">
              <a:lnSpc>
                <a:spcPct val="100000"/>
              </a:lnSpc>
              <a:spcBef>
                <a:spcPts val="0"/>
              </a:spcBef>
              <a:buNone/>
            </a:pPr>
            <a:r>
              <a:rPr lang="en-IN" sz="1800" dirty="0"/>
              <a:t>	VS Code, </a:t>
            </a:r>
            <a:r>
              <a:rPr lang="en-IN" sz="1800" dirty="0" err="1"/>
              <a:t>Jupyter</a:t>
            </a:r>
            <a:r>
              <a:rPr lang="en-IN" sz="1800" dirty="0"/>
              <a:t> Notebook</a:t>
            </a:r>
          </a:p>
        </p:txBody>
      </p:sp>
    </p:spTree>
    <p:extLst>
      <p:ext uri="{BB962C8B-B14F-4D97-AF65-F5344CB8AC3E}">
        <p14:creationId xmlns:p14="http://schemas.microsoft.com/office/powerpoint/2010/main" val="1563727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07E26-BF35-87F3-6EDC-4F7F48922A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8F88B81-7673-2743-B2B8-D1B115744112}"/>
              </a:ext>
            </a:extLst>
          </p:cNvPr>
          <p:cNvSpPr>
            <a:spLocks noGrp="1"/>
          </p:cNvSpPr>
          <p:nvPr>
            <p:ph type="title"/>
          </p:nvPr>
        </p:nvSpPr>
        <p:spPr>
          <a:xfrm>
            <a:off x="838199" y="1115359"/>
            <a:ext cx="8329397" cy="549275"/>
          </a:xfrm>
        </p:spPr>
        <p:txBody>
          <a:bodyPr>
            <a:normAutofit/>
          </a:bodyPr>
          <a:lstStyle/>
          <a:p>
            <a:r>
              <a:rPr lang="en-IN" sz="2500" b="1" dirty="0">
                <a:latin typeface="Aptos Narrow" panose="020B0004020202020204" pitchFamily="34" charset="0"/>
              </a:rPr>
              <a:t>IMPLEMENTATION STATUS:</a:t>
            </a:r>
            <a:endParaRPr lang="en-IN" sz="2500" dirty="0"/>
          </a:p>
        </p:txBody>
      </p:sp>
      <p:sp>
        <p:nvSpPr>
          <p:cNvPr id="5" name="Content Placeholder 2">
            <a:extLst>
              <a:ext uri="{FF2B5EF4-FFF2-40B4-BE49-F238E27FC236}">
                <a16:creationId xmlns:a16="http://schemas.microsoft.com/office/drawing/2014/main" id="{4745C7F3-5757-2A48-0DF5-21B1DB70199B}"/>
              </a:ext>
            </a:extLst>
          </p:cNvPr>
          <p:cNvSpPr>
            <a:spLocks noGrp="1"/>
          </p:cNvSpPr>
          <p:nvPr>
            <p:ph idx="1"/>
          </p:nvPr>
        </p:nvSpPr>
        <p:spPr>
          <a:xfrm>
            <a:off x="838199" y="1580072"/>
            <a:ext cx="10515600" cy="1924702"/>
          </a:xfrm>
        </p:spPr>
        <p:txBody>
          <a:bodyPr>
            <a:noAutofit/>
          </a:bodyPr>
          <a:lstStyle/>
          <a:p>
            <a:pPr marL="342900" indent="-342900">
              <a:lnSpc>
                <a:spcPct val="100000"/>
              </a:lnSpc>
              <a:buFont typeface="+mj-lt"/>
              <a:buAutoNum type="arabicPeriod"/>
            </a:pPr>
            <a:r>
              <a:rPr lang="en-US" sz="1800" dirty="0"/>
              <a:t>UI designed and implemented </a:t>
            </a:r>
          </a:p>
          <a:p>
            <a:pPr marL="342900" indent="-342900">
              <a:lnSpc>
                <a:spcPct val="100000"/>
              </a:lnSpc>
              <a:buFont typeface="+mj-lt"/>
              <a:buAutoNum type="arabicPeriod"/>
            </a:pPr>
            <a:r>
              <a:rPr lang="en-US" sz="1800" dirty="0"/>
              <a:t>Dataset collected and cleaned </a:t>
            </a:r>
          </a:p>
          <a:p>
            <a:pPr marL="342900" indent="-342900">
              <a:lnSpc>
                <a:spcPct val="100000"/>
              </a:lnSpc>
              <a:buFont typeface="+mj-lt"/>
              <a:buAutoNum type="arabicPeriod"/>
            </a:pPr>
            <a:r>
              <a:rPr lang="en-US" sz="1800" dirty="0" err="1"/>
              <a:t>XGBoost</a:t>
            </a:r>
            <a:r>
              <a:rPr lang="en-US" sz="1800" dirty="0"/>
              <a:t> model trained </a:t>
            </a:r>
          </a:p>
          <a:p>
            <a:pPr marL="342900" indent="-342900">
              <a:lnSpc>
                <a:spcPct val="100000"/>
              </a:lnSpc>
              <a:buFont typeface="+mj-lt"/>
              <a:buAutoNum type="arabicPeriod"/>
            </a:pPr>
            <a:r>
              <a:rPr lang="en-US" sz="1800" dirty="0"/>
              <a:t>Prediction module completed </a:t>
            </a:r>
          </a:p>
          <a:p>
            <a:pPr marL="342900" indent="-342900">
              <a:lnSpc>
                <a:spcPct val="100000"/>
              </a:lnSpc>
              <a:buFont typeface="+mj-lt"/>
              <a:buAutoNum type="arabicPeriod"/>
            </a:pPr>
            <a:r>
              <a:rPr lang="en-US" sz="1800" dirty="0"/>
              <a:t>System working successfully</a:t>
            </a:r>
            <a:endParaRPr lang="en-IN" sz="1800" dirty="0"/>
          </a:p>
        </p:txBody>
      </p:sp>
      <p:sp>
        <p:nvSpPr>
          <p:cNvPr id="6" name="Title 1">
            <a:extLst>
              <a:ext uri="{FF2B5EF4-FFF2-40B4-BE49-F238E27FC236}">
                <a16:creationId xmlns:a16="http://schemas.microsoft.com/office/drawing/2014/main" id="{14C8CA6E-5F4C-BF0E-F731-C9C76C56A8F2}"/>
              </a:ext>
            </a:extLst>
          </p:cNvPr>
          <p:cNvSpPr txBox="1">
            <a:spLocks/>
          </p:cNvSpPr>
          <p:nvPr/>
        </p:nvSpPr>
        <p:spPr>
          <a:xfrm>
            <a:off x="838199" y="3926758"/>
            <a:ext cx="4264742" cy="549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500" b="1" dirty="0">
                <a:latin typeface="Aptos Narrow" panose="020B0004020202020204" pitchFamily="34" charset="0"/>
              </a:rPr>
              <a:t>EXPECTED RESULTS:</a:t>
            </a:r>
            <a:endParaRPr lang="en-IN" sz="2500" dirty="0"/>
          </a:p>
        </p:txBody>
      </p:sp>
      <p:sp>
        <p:nvSpPr>
          <p:cNvPr id="9" name="Content Placeholder 2">
            <a:extLst>
              <a:ext uri="{FF2B5EF4-FFF2-40B4-BE49-F238E27FC236}">
                <a16:creationId xmlns:a16="http://schemas.microsoft.com/office/drawing/2014/main" id="{09C0D691-7F87-80D3-024A-B874648FCE78}"/>
              </a:ext>
            </a:extLst>
          </p:cNvPr>
          <p:cNvSpPr txBox="1">
            <a:spLocks/>
          </p:cNvSpPr>
          <p:nvPr/>
        </p:nvSpPr>
        <p:spPr>
          <a:xfrm>
            <a:off x="838199" y="4396520"/>
            <a:ext cx="5196841" cy="12511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AutoNum type="arabicPeriod"/>
            </a:pPr>
            <a:r>
              <a:rPr lang="en-US" sz="1800" dirty="0"/>
              <a:t>Accurate rainfall prediction</a:t>
            </a:r>
          </a:p>
          <a:p>
            <a:pPr marL="342900" indent="-342900">
              <a:lnSpc>
                <a:spcPct val="100000"/>
              </a:lnSpc>
              <a:buAutoNum type="arabicPeriod"/>
            </a:pPr>
            <a:r>
              <a:rPr lang="en-US" sz="1800" dirty="0"/>
              <a:t>Efficient weather analysis </a:t>
            </a:r>
          </a:p>
          <a:p>
            <a:pPr marL="342900" indent="-342900">
              <a:lnSpc>
                <a:spcPct val="100000"/>
              </a:lnSpc>
              <a:buAutoNum type="arabicPeriod"/>
            </a:pPr>
            <a:r>
              <a:rPr lang="en-US" sz="1800" dirty="0"/>
              <a:t>User-friendly system</a:t>
            </a:r>
            <a:endParaRPr lang="en-IN" sz="1800" dirty="0"/>
          </a:p>
        </p:txBody>
      </p:sp>
    </p:spTree>
    <p:extLst>
      <p:ext uri="{BB962C8B-B14F-4D97-AF65-F5344CB8AC3E}">
        <p14:creationId xmlns:p14="http://schemas.microsoft.com/office/powerpoint/2010/main" val="2365988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ACF4B-82BB-9ABD-D486-5DF2B1B281C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D6D3A7B-21DE-C2D8-2E13-B1DE9DF7FD76}"/>
              </a:ext>
            </a:extLst>
          </p:cNvPr>
          <p:cNvSpPr>
            <a:spLocks noGrp="1"/>
          </p:cNvSpPr>
          <p:nvPr>
            <p:ph type="title"/>
          </p:nvPr>
        </p:nvSpPr>
        <p:spPr>
          <a:xfrm>
            <a:off x="838199" y="1115359"/>
            <a:ext cx="8329397" cy="549275"/>
          </a:xfrm>
        </p:spPr>
        <p:txBody>
          <a:bodyPr>
            <a:normAutofit/>
          </a:bodyPr>
          <a:lstStyle/>
          <a:p>
            <a:r>
              <a:rPr lang="en-IN" sz="2500" b="1" dirty="0">
                <a:latin typeface="Aptos Narrow" panose="020B0004020202020204" pitchFamily="34" charset="0"/>
              </a:rPr>
              <a:t>CONCLUSION:</a:t>
            </a:r>
            <a:endParaRPr lang="en-IN" sz="2500" dirty="0"/>
          </a:p>
        </p:txBody>
      </p:sp>
      <p:sp>
        <p:nvSpPr>
          <p:cNvPr id="5" name="Content Placeholder 2">
            <a:extLst>
              <a:ext uri="{FF2B5EF4-FFF2-40B4-BE49-F238E27FC236}">
                <a16:creationId xmlns:a16="http://schemas.microsoft.com/office/drawing/2014/main" id="{33ED62A4-5175-7898-E7C4-39F6ED99DBDB}"/>
              </a:ext>
            </a:extLst>
          </p:cNvPr>
          <p:cNvSpPr>
            <a:spLocks noGrp="1"/>
          </p:cNvSpPr>
          <p:nvPr>
            <p:ph idx="1"/>
          </p:nvPr>
        </p:nvSpPr>
        <p:spPr>
          <a:xfrm>
            <a:off x="838199" y="1664634"/>
            <a:ext cx="9809923" cy="2569436"/>
          </a:xfrm>
        </p:spPr>
        <p:txBody>
          <a:bodyPr>
            <a:noAutofit/>
          </a:bodyPr>
          <a:lstStyle/>
          <a:p>
            <a:pPr marL="0" indent="0">
              <a:lnSpc>
                <a:spcPct val="100000"/>
              </a:lnSpc>
              <a:buNone/>
            </a:pPr>
            <a:r>
              <a:rPr lang="en-US" sz="1800" dirty="0"/>
              <a:t>	</a:t>
            </a:r>
            <a:r>
              <a:rPr lang="en-US" sz="1800" dirty="0" err="1"/>
              <a:t>RainAI</a:t>
            </a:r>
            <a:r>
              <a:rPr lang="en-US" sz="1800" dirty="0"/>
              <a:t> demonstrates the effective application of Artificial Intelligence and Machine Learning to rainfall prediction using historical weather data. While designed for all users, its core mission is to prioritize agriculture and farmers, where accurate rainfall forecasting has the most profound impact on livelihoods and food security. This project offers a transparent, efficient, and adaptable solution suitable for academic learning, research, and real-world deployment. With future enhancements, </a:t>
            </a:r>
            <a:r>
              <a:rPr lang="en-US" sz="1800" dirty="0" err="1"/>
              <a:t>RainAI</a:t>
            </a:r>
            <a:r>
              <a:rPr lang="en-US" sz="1800" dirty="0"/>
              <a:t> is poised to evolve into a comprehensive decision-support system for farmers, rural planners, and agricultural authorities</a:t>
            </a:r>
            <a:endParaRPr lang="en-IN" sz="1800" dirty="0"/>
          </a:p>
        </p:txBody>
      </p:sp>
    </p:spTree>
    <p:extLst>
      <p:ext uri="{BB962C8B-B14F-4D97-AF65-F5344CB8AC3E}">
        <p14:creationId xmlns:p14="http://schemas.microsoft.com/office/powerpoint/2010/main" val="367531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413</Words>
  <Application>Microsoft Office PowerPoint</Application>
  <PresentationFormat>Widescreen</PresentationFormat>
  <Paragraphs>67</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 Narrow</vt:lpstr>
      <vt:lpstr>Arial</vt:lpstr>
      <vt:lpstr>Calibri</vt:lpstr>
      <vt:lpstr>Calibri Light</vt:lpstr>
      <vt:lpstr>Office Theme</vt:lpstr>
      <vt:lpstr>RainAI: AI-Driven Weather Prediction System with XGBoost</vt:lpstr>
      <vt:lpstr>PROBLEM STATEMENT:</vt:lpstr>
      <vt:lpstr>LITERATURE SURVEY:</vt:lpstr>
      <vt:lpstr>PROPOSED SYSTEM:</vt:lpstr>
      <vt:lpstr>MODULES:</vt:lpstr>
      <vt:lpstr>IMPLEMENTATION STATUS: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Pujjaa Baskaran</dc:creator>
  <cp:lastModifiedBy>Pujjaa Baskaran</cp:lastModifiedBy>
  <cp:revision>12</cp:revision>
  <dcterms:created xsi:type="dcterms:W3CDTF">2026-02-10T16:40:40Z</dcterms:created>
  <dcterms:modified xsi:type="dcterms:W3CDTF">2026-02-10T17:25:26Z</dcterms:modified>
</cp:coreProperties>
</file>